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24.ru/" TargetMode="External"/><Relationship Id="rId2" Type="http://schemas.openxmlformats.org/officeDocument/2006/relationships/hyperlink" Target="https://litres.ru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D04DB-6819-4DE7-889E-94C2D2143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05280" y="800138"/>
            <a:ext cx="12478412" cy="1646302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клиентского веб-сайта книжного интернет-магазина "Книговед"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543EE6-7FD6-43BB-B8AA-78C0C7621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3985" y="5249283"/>
            <a:ext cx="6064370" cy="1412494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Преподователи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z-Latn-AZ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Халилов Матлаб, Алиев Джамиль</a:t>
            </a:r>
            <a:endParaRPr lang="ru-RU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Халилов Ибрагим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Предмет: Веб-системы и технологии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680.23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3149C2C-5D6D-462A-8E57-77CA6A063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54" y="1608717"/>
            <a:ext cx="7406668" cy="364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13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68E35D-51DE-4349-9645-8EDDC87F27FF}"/>
              </a:ext>
            </a:extLst>
          </p:cNvPr>
          <p:cNvSpPr txBox="1"/>
          <p:nvPr/>
        </p:nvSpPr>
        <p:spPr>
          <a:xfrm>
            <a:off x="205530" y="83782"/>
            <a:ext cx="60987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Теоретическая база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3D89D-F7DD-4713-AD7B-F0E10467C41C}"/>
              </a:ext>
            </a:extLst>
          </p:cNvPr>
          <p:cNvSpPr txBox="1"/>
          <p:nvPr/>
        </p:nvSpPr>
        <p:spPr>
          <a:xfrm>
            <a:off x="205530" y="803937"/>
            <a:ext cx="815829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Информационная система (ИС)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совокупность программно-аппаратных средств для сбора, хранения, обработки и выдачи информации.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Интернет-магазин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относится к классу 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транзакционных онлайновых ИС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Обеспечивает полный цикл торговли: от демонстрации товара до оформления заказа.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Электронная коммерция (e-</a:t>
            </a:r>
            <a:r>
              <a:rPr lang="ru-RU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commerce</a:t>
            </a: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сфера экономики, охватывающая коммерческие операции через интернет.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модели: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B2C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(Business-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-Consumer) - продажа конечному потребителю (наш проект)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B2B, C2C, B2G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онлайн-торговли: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доступность 24/7, глобальный охват, низкие затраты, персонализация.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невозможность физической оценки товара, риски безопасности.</a:t>
            </a:r>
          </a:p>
        </p:txBody>
      </p:sp>
    </p:spTree>
    <p:extLst>
      <p:ext uri="{BB962C8B-B14F-4D97-AF65-F5344CB8AC3E}">
        <p14:creationId xmlns:p14="http://schemas.microsoft.com/office/powerpoint/2010/main" val="802759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283B3C-B7B3-4758-AB1D-7D839E1B5D8B}"/>
              </a:ext>
            </a:extLst>
          </p:cNvPr>
          <p:cNvSpPr txBox="1"/>
          <p:nvPr/>
        </p:nvSpPr>
        <p:spPr>
          <a:xfrm>
            <a:off x="146807" y="184450"/>
            <a:ext cx="68915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HTML5 </a:t>
            </a:r>
            <a:r>
              <a:rPr lang="ru-RU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и семантика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16E93-F26E-4FA4-AF74-1DE5B12A773E}"/>
              </a:ext>
            </a:extLst>
          </p:cNvPr>
          <p:cNvSpPr txBox="1"/>
          <p:nvPr/>
        </p:nvSpPr>
        <p:spPr>
          <a:xfrm>
            <a:off x="278933" y="751344"/>
            <a:ext cx="1176625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HTML5 (</a:t>
            </a:r>
            <a:r>
              <a:rPr lang="en-US" dirty="0" err="1"/>
              <a:t>HyperText</a:t>
            </a:r>
            <a:r>
              <a:rPr lang="en-US" dirty="0"/>
              <a:t> Markup Language) - </a:t>
            </a:r>
            <a:r>
              <a:rPr lang="ru-RU" dirty="0"/>
              <a:t>язык разметки, определяющий структуру веб-страницы.</a:t>
            </a:r>
          </a:p>
          <a:p>
            <a:endParaRPr lang="ru-RU" dirty="0"/>
          </a:p>
          <a:p>
            <a:r>
              <a:rPr lang="ru-RU" dirty="0"/>
              <a:t>Базовая структура документа:</a:t>
            </a:r>
          </a:p>
          <a:p>
            <a:r>
              <a:rPr lang="ru-RU" dirty="0"/>
              <a:t>&lt;!</a:t>
            </a:r>
            <a:r>
              <a:rPr lang="en-US" dirty="0"/>
              <a:t>DOCTYPE html&gt; → &lt;html&gt; → &lt;head&gt; (</a:t>
            </a:r>
            <a:r>
              <a:rPr lang="ru-RU" dirty="0"/>
              <a:t>метаданные) + &lt;</a:t>
            </a:r>
            <a:r>
              <a:rPr lang="en-US" dirty="0"/>
              <a:t>body&gt; (</a:t>
            </a:r>
            <a:r>
              <a:rPr lang="ru-RU" dirty="0"/>
              <a:t>содержимое)</a:t>
            </a:r>
          </a:p>
          <a:p>
            <a:endParaRPr lang="ru-RU" dirty="0"/>
          </a:p>
          <a:p>
            <a:r>
              <a:rPr lang="ru-RU" dirty="0"/>
              <a:t>Семантические теги:</a:t>
            </a:r>
          </a:p>
          <a:p>
            <a:r>
              <a:rPr lang="ru-RU" dirty="0"/>
              <a:t>&lt;</a:t>
            </a:r>
            <a:r>
              <a:rPr lang="en-US" dirty="0"/>
              <a:t>header&gt;, &lt;nav&gt;, &lt;main&gt;, &lt;section&gt;, &lt;article&gt;, &lt;footer&gt;</a:t>
            </a:r>
          </a:p>
          <a:p>
            <a:r>
              <a:rPr lang="ru-RU" dirty="0"/>
              <a:t>- </a:t>
            </a:r>
            <a:r>
              <a:rPr lang="en-US" dirty="0"/>
              <a:t> </a:t>
            </a:r>
            <a:r>
              <a:rPr lang="ru-RU" dirty="0"/>
              <a:t>делают код понятным для браузеров, поисковиков и программ экранного доступа.</a:t>
            </a:r>
          </a:p>
          <a:p>
            <a:endParaRPr lang="ru-RU" dirty="0"/>
          </a:p>
          <a:p>
            <a:r>
              <a:rPr lang="ru-RU" dirty="0"/>
              <a:t>Формы и валидация:</a:t>
            </a:r>
          </a:p>
          <a:p>
            <a:r>
              <a:rPr lang="ru-RU" dirty="0"/>
              <a:t>&lt;</a:t>
            </a:r>
            <a:r>
              <a:rPr lang="en-US" dirty="0"/>
              <a:t>input type="email"&gt;, required, pattern - </a:t>
            </a:r>
            <a:r>
              <a:rPr lang="ru-RU" dirty="0"/>
              <a:t>встроенная проверка данных без </a:t>
            </a:r>
            <a:r>
              <a:rPr lang="en-US" dirty="0"/>
              <a:t>JavaScript.</a:t>
            </a:r>
          </a:p>
          <a:p>
            <a:endParaRPr lang="en-US" dirty="0"/>
          </a:p>
          <a:p>
            <a:r>
              <a:rPr lang="ru-RU" dirty="0"/>
              <a:t>В курсовой: все пять страниц используют семантическую разметку, форма заказа -  </a:t>
            </a:r>
            <a:r>
              <a:rPr lang="en-US" dirty="0"/>
              <a:t>HTML5-</a:t>
            </a:r>
            <a:r>
              <a:rPr lang="ru-RU" dirty="0"/>
              <a:t>валидацию.</a:t>
            </a:r>
            <a:endParaRPr lang="en-US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7F6E8DA-DF18-4A85-B091-C8F12D828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25" y="4444663"/>
            <a:ext cx="5655019" cy="2315301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73E20495-2F2B-4EDC-92B6-FA4D38A6B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5967" y="5735182"/>
            <a:ext cx="439498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фрагмент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index.html с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тегами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&lt;header&gt;, &lt;nav&gt;, &lt;main&gt; </a:t>
            </a:r>
          </a:p>
        </p:txBody>
      </p:sp>
    </p:spTree>
    <p:extLst>
      <p:ext uri="{BB962C8B-B14F-4D97-AF65-F5344CB8AC3E}">
        <p14:creationId xmlns:p14="http://schemas.microsoft.com/office/powerpoint/2010/main" val="3502768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843DBD-90D2-4D46-A66F-85CD72037DDE}"/>
              </a:ext>
            </a:extLst>
          </p:cNvPr>
          <p:cNvSpPr txBox="1"/>
          <p:nvPr/>
        </p:nvSpPr>
        <p:spPr>
          <a:xfrm>
            <a:off x="79694" y="142505"/>
            <a:ext cx="93579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CSS3 -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и адаптивность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0C46B4-465A-4CD7-9FBB-3528CCB2077F}"/>
              </a:ext>
            </a:extLst>
          </p:cNvPr>
          <p:cNvSpPr txBox="1"/>
          <p:nvPr/>
        </p:nvSpPr>
        <p:spPr>
          <a:xfrm>
            <a:off x="141213" y="711253"/>
            <a:ext cx="861689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CSS3 (Cascading Style Sheets) - </a:t>
            </a:r>
            <a:r>
              <a:rPr lang="ru-RU" dirty="0"/>
              <a:t>каскадные таблицы стилей, отделяют оформление от структуры.</a:t>
            </a:r>
          </a:p>
          <a:p>
            <a:endParaRPr lang="ru-RU" dirty="0"/>
          </a:p>
          <a:p>
            <a:r>
              <a:rPr lang="ru-RU" dirty="0"/>
              <a:t>Ключевые механизмы:</a:t>
            </a:r>
          </a:p>
          <a:p>
            <a:endParaRPr lang="ru-RU" dirty="0"/>
          </a:p>
          <a:p>
            <a:r>
              <a:rPr lang="ru-RU" dirty="0"/>
              <a:t>Блочная модель (</a:t>
            </a:r>
            <a:r>
              <a:rPr lang="en-US" dirty="0"/>
              <a:t>box-sizing: border-box)</a:t>
            </a:r>
          </a:p>
          <a:p>
            <a:endParaRPr lang="en-US" dirty="0"/>
          </a:p>
          <a:p>
            <a:r>
              <a:rPr lang="en-US" dirty="0"/>
              <a:t>Flexbox - </a:t>
            </a:r>
            <a:r>
              <a:rPr lang="ru-RU" dirty="0"/>
              <a:t>одномерная раскладка (шапка, карточки, кнопки)</a:t>
            </a:r>
          </a:p>
          <a:p>
            <a:endParaRPr lang="ru-RU" dirty="0"/>
          </a:p>
          <a:p>
            <a:r>
              <a:rPr lang="en-US" dirty="0"/>
              <a:t>CSS Grid - </a:t>
            </a:r>
            <a:r>
              <a:rPr lang="ru-RU" dirty="0"/>
              <a:t>двумерная сетка (каталог, корзина)</a:t>
            </a:r>
          </a:p>
          <a:p>
            <a:endParaRPr lang="ru-RU" dirty="0"/>
          </a:p>
          <a:p>
            <a:r>
              <a:rPr lang="ru-RU" dirty="0"/>
              <a:t>Адаптивный дизайн:</a:t>
            </a:r>
          </a:p>
          <a:p>
            <a:r>
              <a:rPr lang="ru-RU" dirty="0" err="1"/>
              <a:t>Медиазапросы</a:t>
            </a:r>
            <a:r>
              <a:rPr lang="ru-RU" dirty="0"/>
              <a:t> @</a:t>
            </a:r>
            <a:r>
              <a:rPr lang="en-US" dirty="0"/>
              <a:t>media - </a:t>
            </a:r>
            <a:r>
              <a:rPr lang="ru-RU" dirty="0"/>
              <a:t>три контрольные точки: 1024</a:t>
            </a:r>
            <a:r>
              <a:rPr lang="en-US" dirty="0"/>
              <a:t>px, 768px, 480px</a:t>
            </a:r>
          </a:p>
          <a:p>
            <a:endParaRPr lang="en-US" dirty="0"/>
          </a:p>
          <a:p>
            <a:r>
              <a:rPr lang="en-US" dirty="0"/>
              <a:t>CSS-</a:t>
            </a:r>
            <a:r>
              <a:rPr lang="ru-RU" dirty="0"/>
              <a:t>переменные:</a:t>
            </a:r>
          </a:p>
          <a:p>
            <a:r>
              <a:rPr lang="ru-RU" dirty="0"/>
              <a:t>:</a:t>
            </a:r>
            <a:r>
              <a:rPr lang="en-US" dirty="0"/>
              <a:t>root { --color-primary: #2C3E50; } - </a:t>
            </a:r>
            <a:r>
              <a:rPr lang="ru-RU" dirty="0"/>
              <a:t>единое управление цветами, шрифтами, отступами</a:t>
            </a:r>
          </a:p>
          <a:p>
            <a:endParaRPr lang="ru-RU" dirty="0"/>
          </a:p>
          <a:p>
            <a:r>
              <a:rPr lang="ru-RU" dirty="0"/>
              <a:t>В курсовой: единый </a:t>
            </a:r>
            <a:r>
              <a:rPr lang="en-US" dirty="0"/>
              <a:t>style.css, </a:t>
            </a:r>
            <a:r>
              <a:rPr lang="ru-RU" dirty="0"/>
              <a:t>сетка на </a:t>
            </a:r>
            <a:r>
              <a:rPr lang="en-US" dirty="0"/>
              <a:t>auto-fill + minmax, </a:t>
            </a:r>
            <a:r>
              <a:rPr lang="ru-RU" dirty="0"/>
              <a:t>адаптивность от 320</a:t>
            </a:r>
            <a:r>
              <a:rPr lang="en-US" dirty="0"/>
              <a:t>px </a:t>
            </a:r>
            <a:r>
              <a:rPr lang="ru-RU" dirty="0"/>
              <a:t>до 1920</a:t>
            </a:r>
            <a:r>
              <a:rPr lang="en-US" dirty="0"/>
              <a:t>px.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F5D965F-C350-4150-8673-1FE4EF828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761" y="1040505"/>
            <a:ext cx="4249026" cy="306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96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2796010-B57B-450D-B7C6-322C0E8E316D}"/>
              </a:ext>
            </a:extLst>
          </p:cNvPr>
          <p:cNvSpPr txBox="1"/>
          <p:nvPr/>
        </p:nvSpPr>
        <p:spPr>
          <a:xfrm>
            <a:off x="230697" y="134116"/>
            <a:ext cx="71264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-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интерактивность и данные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371DB0-C447-485E-8B5D-64756A6AF72F}"/>
              </a:ext>
            </a:extLst>
          </p:cNvPr>
          <p:cNvSpPr txBox="1"/>
          <p:nvPr/>
        </p:nvSpPr>
        <p:spPr>
          <a:xfrm>
            <a:off x="230697" y="564040"/>
            <a:ext cx="1173060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JavaScript (ES6+) - язык программирования, добавляет динамику на страницу.</a:t>
            </a:r>
          </a:p>
          <a:p>
            <a:endParaRPr lang="ru-RU" dirty="0"/>
          </a:p>
          <a:p>
            <a:r>
              <a:rPr lang="ru-RU" dirty="0"/>
              <a:t>Основные возможности:</a:t>
            </a:r>
          </a:p>
          <a:p>
            <a:endParaRPr lang="ru-RU" dirty="0"/>
          </a:p>
          <a:p>
            <a:r>
              <a:rPr lang="ru-RU" dirty="0"/>
              <a:t>DOM-манипуляции - поиск элементов, изменение содержимого, генерация HTML</a:t>
            </a:r>
          </a:p>
          <a:p>
            <a:endParaRPr lang="ru-RU" dirty="0"/>
          </a:p>
          <a:p>
            <a:r>
              <a:rPr lang="ru-RU" dirty="0"/>
              <a:t>Обработка событий - клики, ввод, загрузка страницы (</a:t>
            </a:r>
            <a:r>
              <a:rPr lang="ru-RU" dirty="0" err="1"/>
              <a:t>DOMContentLoaded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/>
              <a:t>Делегирование событий - единый обработчик для всех кнопок «В корзину»</a:t>
            </a:r>
          </a:p>
          <a:p>
            <a:endParaRPr lang="ru-RU" dirty="0"/>
          </a:p>
          <a:p>
            <a:r>
              <a:rPr lang="ru-RU" dirty="0"/>
              <a:t>Web Storage API - </a:t>
            </a:r>
            <a:r>
              <a:rPr lang="ru-RU" dirty="0" err="1"/>
              <a:t>localStorage</a:t>
            </a:r>
            <a:r>
              <a:rPr lang="ru-RU" dirty="0"/>
              <a:t> для сохранения корзины между сессиями</a:t>
            </a:r>
          </a:p>
          <a:p>
            <a:endParaRPr lang="ru-RU" dirty="0"/>
          </a:p>
          <a:p>
            <a:r>
              <a:rPr lang="ru-RU" dirty="0"/>
              <a:t>В курсовой:</a:t>
            </a:r>
          </a:p>
          <a:p>
            <a:endParaRPr lang="ru-RU" dirty="0"/>
          </a:p>
          <a:p>
            <a:r>
              <a:rPr lang="ru-RU" dirty="0"/>
              <a:t>Динамическая генерация каталога из массива </a:t>
            </a:r>
            <a:r>
              <a:rPr lang="ru-RU" dirty="0" err="1"/>
              <a:t>booksData</a:t>
            </a:r>
            <a:r>
              <a:rPr lang="ru-RU" dirty="0"/>
              <a:t> (25 книг)</a:t>
            </a:r>
          </a:p>
          <a:p>
            <a:endParaRPr lang="ru-RU" dirty="0"/>
          </a:p>
          <a:p>
            <a:r>
              <a:rPr lang="ru-RU" dirty="0"/>
              <a:t>Мгновенный поиск/фильтрация (функция </a:t>
            </a:r>
            <a:r>
              <a:rPr lang="ru-RU" dirty="0" err="1"/>
              <a:t>applyFilters</a:t>
            </a:r>
            <a:r>
              <a:rPr lang="ru-RU" dirty="0"/>
              <a:t>())</a:t>
            </a:r>
          </a:p>
          <a:p>
            <a:endParaRPr lang="ru-RU" dirty="0"/>
          </a:p>
          <a:p>
            <a:r>
              <a:rPr lang="ru-RU" dirty="0"/>
              <a:t>Карусель категорий на чистом JS (без библиотек)</a:t>
            </a:r>
          </a:p>
          <a:p>
            <a:endParaRPr lang="ru-RU" dirty="0"/>
          </a:p>
          <a:p>
            <a:r>
              <a:rPr lang="ru-RU" dirty="0"/>
              <a:t>Корзина с JSON-</a:t>
            </a:r>
            <a:r>
              <a:rPr lang="ru-RU" dirty="0" err="1"/>
              <a:t>сериализацией</a:t>
            </a:r>
            <a:r>
              <a:rPr lang="ru-RU" dirty="0"/>
              <a:t> в </a:t>
            </a:r>
            <a:r>
              <a:rPr lang="ru-RU" dirty="0" err="1"/>
              <a:t>localStorage</a:t>
            </a:r>
            <a:endParaRPr lang="en-US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2EDCC53-630E-4BB2-BE1E-F9AB7DA23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208" y="4862607"/>
            <a:ext cx="4483080" cy="16107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A932A36-7C6B-4E9E-8CC1-F6CA49EAD0C2}"/>
              </a:ext>
            </a:extLst>
          </p:cNvPr>
          <p:cNvSpPr txBox="1"/>
          <p:nvPr/>
        </p:nvSpPr>
        <p:spPr>
          <a:xfrm>
            <a:off x="7801761" y="4068661"/>
            <a:ext cx="3565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Фрагмент функции </a:t>
            </a:r>
            <a:r>
              <a:rPr lang="en-US" dirty="0" err="1"/>
              <a:t>applyFilters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256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F8AB98-9A1D-49D4-8341-26F71554E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35" y="156238"/>
            <a:ext cx="11296130" cy="1320800"/>
          </a:xfrm>
        </p:spPr>
        <p:txBody>
          <a:bodyPr>
            <a:normAutofit fontScale="90000"/>
          </a:bodyPr>
          <a:lstStyle/>
          <a:p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многостраничный клиентский сайт книжного интернет-магазина «Книговед» с использованием HTML5, CSS3 и JavaScript без серверной части.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2FC5B3-7F88-497F-B164-F0F69A009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Задачи:</a:t>
            </a:r>
          </a:p>
          <a:p>
            <a:pPr marL="0" indent="0">
              <a:buNone/>
            </a:pPr>
            <a:r>
              <a:rPr lang="ru-RU" dirty="0"/>
              <a:t>• изучить особенности интернет-магазинов и провести анализ аналогов;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освоить семантическую вёрстку, адаптивный дизайн (</a:t>
            </a:r>
            <a:r>
              <a:rPr lang="ru-RU" dirty="0" err="1"/>
              <a:t>Flexbox</a:t>
            </a:r>
            <a:r>
              <a:rPr lang="ru-RU" dirty="0"/>
              <a:t>, Grid, </a:t>
            </a:r>
            <a:r>
              <a:rPr lang="ru-RU" dirty="0" err="1"/>
              <a:t>медиазапросы</a:t>
            </a:r>
            <a:r>
              <a:rPr lang="ru-RU" dirty="0"/>
              <a:t>);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реализовать динамическую генерацию каталога, поиск и фильтрацию на JavaScript;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разработать корзину с сохранением в </a:t>
            </a:r>
            <a:r>
              <a:rPr lang="ru-RU" dirty="0" err="1"/>
              <a:t>localStorage</a:t>
            </a:r>
            <a:r>
              <a:rPr lang="ru-RU" dirty="0"/>
              <a:t>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обеспечить адаптивность от 320px до 1920px.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9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4C8BED-9F2B-4047-9B50-333D8D9DD13E}"/>
              </a:ext>
            </a:extLst>
          </p:cNvPr>
          <p:cNvSpPr txBox="1"/>
          <p:nvPr/>
        </p:nvSpPr>
        <p:spPr>
          <a:xfrm>
            <a:off x="204877" y="700994"/>
            <a:ext cx="61031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Рассмотренные аналоги: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lang="ru-RU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Litres.ru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продвинутые фильтры, но перегруженный интерфейс и реклама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lang="ru-RU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Ozon</a:t>
            </a: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(Книги)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мощный поиск, но структура ориентирована на маркетплейс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lang="ru-RU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book24.ru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тематический каталог, но недостаточная адаптивность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605F2-304B-473B-A7A0-B79768ACFBAC}"/>
              </a:ext>
            </a:extLst>
          </p:cNvPr>
          <p:cNvSpPr txBox="1"/>
          <p:nvPr/>
        </p:nvSpPr>
        <p:spPr>
          <a:xfrm>
            <a:off x="265262" y="2817069"/>
            <a:ext cx="61031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необходимо минималистичное решение с фокусом на книги и хорошей адаптацией под мобильные устройства.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требования: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Карточки книг с обложкой, названием, автором, ценой и скидкой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Мгновенный поиск и фильтрация по категориям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Корзина с сохранением в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Адаптивная вёрстка (320px – 1920px),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кроссбраузерность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единый стиль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B3214A9-85A5-4450-883A-CA2EA2192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123" y="62639"/>
            <a:ext cx="1794294" cy="17942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D635F4E-596B-4937-815C-9D3E5FFAC7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5123" y="2326877"/>
            <a:ext cx="4597879" cy="76018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CBA43D5-82EA-49F0-832A-8118CEEC6A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5123" y="3376826"/>
            <a:ext cx="5017339" cy="16023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378EE67-BD6C-42C4-88CB-70DD7157B148}"/>
              </a:ext>
            </a:extLst>
          </p:cNvPr>
          <p:cNvSpPr txBox="1"/>
          <p:nvPr/>
        </p:nvSpPr>
        <p:spPr>
          <a:xfrm>
            <a:off x="-7188" y="0"/>
            <a:ext cx="6103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Анализ аналогов и требования</a:t>
            </a:r>
          </a:p>
        </p:txBody>
      </p:sp>
    </p:spTree>
    <p:extLst>
      <p:ext uri="{BB962C8B-B14F-4D97-AF65-F5344CB8AC3E}">
        <p14:creationId xmlns:p14="http://schemas.microsoft.com/office/powerpoint/2010/main" val="3307776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76BD5D-A28B-4BE5-AB2A-77F5749CDC4A}"/>
              </a:ext>
            </a:extLst>
          </p:cNvPr>
          <p:cNvSpPr txBox="1"/>
          <p:nvPr/>
        </p:nvSpPr>
        <p:spPr>
          <a:xfrm>
            <a:off x="187624" y="65500"/>
            <a:ext cx="61031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и технологии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2896B1-EB36-420D-9F6E-1EDF2B000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39" y="640165"/>
            <a:ext cx="7136202" cy="172354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Файловая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index.html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catalog.html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book.html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cart.html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about.html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style.css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все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стили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script.js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логика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data/books.js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массив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книг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(25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позиций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12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категорий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обложек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иконок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29276-FC88-4F16-A2C8-948EF2B8E0BD}"/>
              </a:ext>
            </a:extLst>
          </p:cNvPr>
          <p:cNvSpPr txBox="1"/>
          <p:nvPr/>
        </p:nvSpPr>
        <p:spPr>
          <a:xfrm>
            <a:off x="127239" y="2363714"/>
            <a:ext cx="610318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технологии:</a:t>
            </a:r>
            <a:b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lang="ru-RU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семантические теги, валидация форм</a:t>
            </a:r>
            <a:b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lang="ru-RU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переменные, </a:t>
            </a:r>
            <a:r>
              <a:rPr lang="ru-RU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Flexbox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Grid, </a:t>
            </a:r>
            <a:r>
              <a:rPr lang="ru-RU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медиазапросы</a:t>
            </a:r>
            <a:b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lang="ru-RU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 (ES6+)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генерация контента, обработка событий, </a:t>
            </a:r>
            <a:r>
              <a:rPr lang="ru-RU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endParaRPr lang="ru-RU" sz="1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Навигация: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единое меню, все страницы связаны, активный пункт подсвечивается динамически.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F8499C-E644-4AC5-B5DD-318E49EBB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24" y="3850925"/>
            <a:ext cx="2880610" cy="294157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A0F7C78-4D2B-44AB-95E3-962C242A1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234" y="82678"/>
            <a:ext cx="5323068" cy="429854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AEAB874-4D74-4787-BA42-14A891920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0573" y="4453443"/>
            <a:ext cx="5250854" cy="232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63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BA7E6B-03BF-4248-9D60-D7201FBE7AAC}"/>
              </a:ext>
            </a:extLst>
          </p:cNvPr>
          <p:cNvSpPr txBox="1"/>
          <p:nvPr/>
        </p:nvSpPr>
        <p:spPr>
          <a:xfrm>
            <a:off x="187624" y="0"/>
            <a:ext cx="7377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моменты реализации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CAE31B-FE4E-448D-A089-7FDBE0294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24" y="646331"/>
            <a:ext cx="8381525" cy="329320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Динамический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каталог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книги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генерируются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массива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booksData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через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JavaScript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Мгновенный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поиск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названию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автору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жанрам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Корзина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между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сессиями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количеством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автоматический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пересчёт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суммы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Карусель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категорий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главной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прокрутка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кнопками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жестами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Визуальная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обратная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связь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корзину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Случайные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детерминированные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отзывы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книги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Адаптивность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контрольные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точки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(1024px, 768px, 480px),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сетка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Grid/Flexbox.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61A8942-2202-4ABA-9EB2-95D310367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63" y="3939540"/>
            <a:ext cx="4032446" cy="259204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9561AE3-529F-4606-938B-0668E3467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026" y="3954644"/>
            <a:ext cx="3551165" cy="258951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50CD816-0A2A-45C2-8586-52A637498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003" y="313839"/>
            <a:ext cx="4634691" cy="218747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DF10D91-E27B-4F20-BCBD-A97C6FFBE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535" y="2819468"/>
            <a:ext cx="1552841" cy="33843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7484F7A-A1A9-4444-B4A6-D7D68F0074B9}"/>
              </a:ext>
            </a:extLst>
          </p:cNvPr>
          <p:cNvSpPr txBox="1"/>
          <p:nvPr/>
        </p:nvSpPr>
        <p:spPr>
          <a:xfrm>
            <a:off x="345940" y="6518281"/>
            <a:ext cx="4032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Каталог с фильтрацией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CDDCC2-C442-41D1-95E0-6786268443D5}"/>
              </a:ext>
            </a:extLst>
          </p:cNvPr>
          <p:cNvSpPr txBox="1"/>
          <p:nvPr/>
        </p:nvSpPr>
        <p:spPr>
          <a:xfrm>
            <a:off x="4443563" y="6488668"/>
            <a:ext cx="6103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Страница книги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105F80-1C21-47B8-9173-016B7016AB98}"/>
              </a:ext>
            </a:extLst>
          </p:cNvPr>
          <p:cNvSpPr txBox="1"/>
          <p:nvPr/>
        </p:nvSpPr>
        <p:spPr>
          <a:xfrm>
            <a:off x="7097383" y="2507579"/>
            <a:ext cx="6103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Страница корзины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9CD1EB-419A-4243-8E22-486353EDFECC}"/>
              </a:ext>
            </a:extLst>
          </p:cNvPr>
          <p:cNvSpPr txBox="1"/>
          <p:nvPr/>
        </p:nvSpPr>
        <p:spPr>
          <a:xfrm>
            <a:off x="9137156" y="4127114"/>
            <a:ext cx="15528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Мобильная версия сайта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849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A09ADF-19B2-45A6-9EDF-3AA170828E17}"/>
              </a:ext>
            </a:extLst>
          </p:cNvPr>
          <p:cNvSpPr txBox="1"/>
          <p:nvPr/>
        </p:nvSpPr>
        <p:spPr>
          <a:xfrm>
            <a:off x="88084" y="0"/>
            <a:ext cx="60987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 перспективы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40E05-13CC-4EFB-A6E9-0BFCFA28497F}"/>
              </a:ext>
            </a:extLst>
          </p:cNvPr>
          <p:cNvSpPr txBox="1"/>
          <p:nvPr/>
        </p:nvSpPr>
        <p:spPr>
          <a:xfrm>
            <a:off x="205530" y="646331"/>
            <a:ext cx="614913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достигнуто: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Полностью рабочий многостраничный сайт книжного магазина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Выполнены все функциональные и нефункциональные требования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Семантическая вёрстка, адаптивный дизайн, клиентская логика без фреймворков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Возможные улучшения: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Подключение серверной части (Node.js/PHP) и базы данных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Авторизация и личный кабинет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Интеграция платёжных систем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Расширенные фильтры, сортировка, реальные отзывы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SEO-оптимизация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89D437-91B3-4481-B8EF-632E471E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149" y="62288"/>
            <a:ext cx="4604051" cy="673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06166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</TotalTime>
  <Words>962</Words>
  <Application>Microsoft Office PowerPoint</Application>
  <PresentationFormat>Широкоэкранный</PresentationFormat>
  <Paragraphs>100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Trebuchet MS</vt:lpstr>
      <vt:lpstr>Wingdings 3</vt:lpstr>
      <vt:lpstr>Аспект</vt:lpstr>
      <vt:lpstr>Разработка клиентского веб-сайта книжного интернет-магазина "Книговед"</vt:lpstr>
      <vt:lpstr>Презентация PowerPoint</vt:lpstr>
      <vt:lpstr>Презентация PowerPoint</vt:lpstr>
      <vt:lpstr>Презентация PowerPoint</vt:lpstr>
      <vt:lpstr>Презентация PowerPoint</vt:lpstr>
      <vt:lpstr>Цель работы: Создать многостраничный клиентский сайт книжного интернет-магазина «Книговед» с использованием HTML5, CSS3 и JavaScript без серверной части.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клиентского веб-сайта книжного интернет-магазина "Книговед"</dc:title>
  <dc:creator>Admin</dc:creator>
  <cp:lastModifiedBy>Admin</cp:lastModifiedBy>
  <cp:revision>24</cp:revision>
  <dcterms:created xsi:type="dcterms:W3CDTF">2026-05-11T20:43:01Z</dcterms:created>
  <dcterms:modified xsi:type="dcterms:W3CDTF">2026-05-14T14:28:27Z</dcterms:modified>
</cp:coreProperties>
</file>